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3666A"/>
                </a:solidFill>
                <a:latin typeface="Calibri"/>
              </a:defRPr>
            </a:pPr>
            <a:r>
              <a:rPr lang="es-ES" sz="1200" b="0" i="0" u="none" strike="noStrike">
                <a:solidFill>
                  <a:srgbClr val="63666A"/>
                </a:solidFill>
                <a:latin typeface="Calibri"/>
              </a:rPr>
              <a:t>Carga de trabajo relativa a lo largo del año (estimada)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Carga relativa del sector</c:v>
                </c:pt>
              </c:strCache>
            </c:strRef>
          </c:tx>
          <c:spPr>
            <a:solidFill>
              <a:srgbClr val="046A3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21B-46FD-9102-A3036D41A45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21B-46FD-9102-A3036D41A45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21B-46FD-9102-A3036D41A456}"/>
              </c:ext>
            </c:extLst>
          </c:dPt>
          <c:dPt>
            <c:idx val="3"/>
            <c:invertIfNegative val="0"/>
            <c:bubble3D val="0"/>
            <c:spPr>
              <a:solidFill>
                <a:srgbClr val="86BC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21B-46FD-9102-A3036D41A456}"/>
              </c:ext>
            </c:extLst>
          </c:dPt>
          <c:dPt>
            <c:idx val="4"/>
            <c:invertIfNegative val="0"/>
            <c:bubble3D val="0"/>
            <c:spPr>
              <a:solidFill>
                <a:srgbClr val="86BC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21B-46FD-9102-A3036D41A456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D21B-46FD-9102-A3036D41A456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D21B-46FD-9102-A3036D41A456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D21B-46FD-9102-A3036D41A456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D21B-46FD-9102-A3036D41A456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D21B-46FD-9102-A3036D41A456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D21B-46FD-9102-A3036D41A456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D21B-46FD-9102-A3036D41A456}"/>
              </c:ext>
            </c:extLst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</c:v>
                </c:pt>
                <c:pt idx="1">
                  <c:v>35</c:v>
                </c:pt>
                <c:pt idx="2">
                  <c:v>55</c:v>
                </c:pt>
                <c:pt idx="3">
                  <c:v>90</c:v>
                </c:pt>
                <c:pt idx="4">
                  <c:v>100</c:v>
                </c:pt>
                <c:pt idx="5">
                  <c:v>45</c:v>
                </c:pt>
                <c:pt idx="6">
                  <c:v>40</c:v>
                </c:pt>
                <c:pt idx="7">
                  <c:v>40</c:v>
                </c:pt>
                <c:pt idx="8">
                  <c:v>45</c:v>
                </c:pt>
                <c:pt idx="9">
                  <c:v>45</c:v>
                </c:pt>
                <c:pt idx="10">
                  <c:v>40</c:v>
                </c:pt>
                <c:pt idx="1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D21B-46FD-9102-A3036D41A4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majorGridlines>
          <c:spPr>
            <a:ln w="12700" cap="flat">
              <a:solidFill>
                <a:srgbClr val="ECEF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3373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960120"/>
            <a:ext cx="2103120" cy="2103120"/>
          </a:xfrm>
          <a:prstGeom prst="ellipse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49840" y="2743200"/>
            <a:ext cx="1371600" cy="137160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Argentina  ·  Tax &amp; Legal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Tax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40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 de procesos, desarrollos</a:t>
            </a:r>
            <a:endParaRPr lang="en-US" sz="24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40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oportunidades de automatización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 y mapa de procesos del sector · Insumo para la Matriz de Procesos Automatizables de T&amp;L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786384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48646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51023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Tax — directos + consultoría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0" y="48646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51023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Virtual, con demo de herramientas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48646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63640" y="51023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level, sin análisis de código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Argentina · Tax &amp; Legal · Diagnóstico de procesos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extremos y un esfuerzo tecnológico desbalanceado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Argentina · Tax &amp; Legal · Diagnóstico de procesos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15184" cy="205740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8288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de servicio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92608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Ganancias, CM05, Bienes Personales,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participaciones societarias y consultoría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74136" y="1691640"/>
            <a:ext cx="2615184" cy="205740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30168" y="18288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630168" y="260604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gerentes en consultoría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30168" y="292608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repetidas resueltas en paralelo,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cruzada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9632" y="1691640"/>
            <a:ext cx="2615184" cy="205740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55664" y="18288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455664" y="260604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desarrollos en curso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55664" y="292608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Ganancias, CTF, templates teóricos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bot de novedades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25128" y="1691640"/>
            <a:ext cx="2615184" cy="2057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81160" y="18288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9281160" y="260604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pico anual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81160" y="292608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mediados de abril al 15 de mayo,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jornadas de ~20 horas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explica el mapa actual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6928" y="4407408"/>
            <a:ext cx="329184" cy="329184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" y="43799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directo + consultoría centralizada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92040" y="436168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sector atiende también las consultas de impuestos indirectos: los equipos de compliance mensual no pueden absorber consultoría.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029200"/>
            <a:ext cx="329184" cy="329184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5001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esfuerzo tecnológico va a Ganancias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92040" y="49834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proceso más pesado en volumen, detalle y conocimiento técnico. Los otros cuatro pilares no tienen tecnología aplicada.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5650992"/>
            <a:ext cx="329184" cy="329184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928" y="5650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" y="5623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techo hoy es una aprobación, no el desarrollo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92040" y="560527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uso de agentes de IA está pendiente de habilitación: sin eso, tres iniciativas quedan a mitad de camino.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procesos del sector y nivel de automatización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Argentina · Tax &amp; Legal · Diagnóstico de procesos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63240" y="14630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ACTUAL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57800" y="14630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AUTOMATIZACIÓN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146304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PRINCIPAL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11247120" cy="374904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7556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— bienes de uso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3240" y="17556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macros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57800" y="1883664"/>
            <a:ext cx="2194560" cy="146304"/>
          </a:xfrm>
          <a:prstGeom prst="rect">
            <a:avLst/>
          </a:prstGeom>
          <a:solidFill>
            <a:srgbClr val="E4E7E0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57800" y="1883664"/>
            <a:ext cx="1865376" cy="146304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18120" y="17556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32520" y="175564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feedback e integrar a Ganancias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2157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Ganancias — liquidación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3240" y="21579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macros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57800" y="2286000"/>
            <a:ext cx="2194560" cy="146304"/>
          </a:xfrm>
          <a:prstGeom prst="rect">
            <a:avLst/>
          </a:prstGeom>
          <a:solidFill>
            <a:srgbClr val="E4E7E0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57800" y="2286000"/>
            <a:ext cx="1536192" cy="146304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215798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32520" y="215798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con IA y lectura de balances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523744"/>
            <a:ext cx="11247120" cy="374904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25603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 impositivas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63240" y="2560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Playwright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57800" y="2688336"/>
            <a:ext cx="2194560" cy="146304"/>
          </a:xfrm>
          <a:prstGeom prst="rect">
            <a:avLst/>
          </a:prstGeom>
          <a:solidFill>
            <a:srgbClr val="E4E7E0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257800" y="2688336"/>
            <a:ext cx="1426464" cy="146304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18120" y="25603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32520" y="256032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relevancia, resumen y envío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29626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teóricos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063240" y="2962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(contenido listo)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257800" y="3090672"/>
            <a:ext cx="2194560" cy="146304"/>
          </a:xfrm>
          <a:prstGeom prst="rect">
            <a:avLst/>
          </a:prstGeom>
          <a:solidFill>
            <a:srgbClr val="E4E7E0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257800" y="3090672"/>
            <a:ext cx="1316736" cy="146304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818120" y="29626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732520" y="296265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de vínculo + agente consultable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328416"/>
            <a:ext cx="11247120" cy="374904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33649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Inversiones financieras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063240" y="33649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FCI automatizado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257800" y="3493008"/>
            <a:ext cx="2194560" cy="146304"/>
          </a:xfrm>
          <a:prstGeom prst="rect">
            <a:avLst/>
          </a:prstGeom>
          <a:solidFill>
            <a:srgbClr val="E4E7E0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257800" y="3493008"/>
            <a:ext cx="329184" cy="146304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818120" y="336499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732520" y="336499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Valuación del resto de instrumentos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376732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— repositorio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063240" y="37673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en Teams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257800" y="3895344"/>
            <a:ext cx="2194560" cy="146304"/>
          </a:xfrm>
          <a:prstGeom prst="rect">
            <a:avLst/>
          </a:prstGeom>
          <a:solidFill>
            <a:srgbClr val="E4E7E0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257800" y="3895344"/>
            <a:ext cx="219456" cy="146304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818120" y="37673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732520" y="376732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con base de conocimiento de memos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4133088"/>
            <a:ext cx="11247120" cy="374904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48640" y="41696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CM05 — IIBB anual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063240" y="41696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externo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257800" y="4297680"/>
            <a:ext cx="2194560" cy="146304"/>
          </a:xfrm>
          <a:prstGeom prst="rect">
            <a:avLst/>
          </a:prstGeom>
          <a:solidFill>
            <a:srgbClr val="E4E7E0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818120" y="41696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732520" y="416966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Internalizar: ahorro directo de costo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48640" y="45720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 Personales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3063240" y="45720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257800" y="4700016"/>
            <a:ext cx="2194560" cy="146304"/>
          </a:xfrm>
          <a:prstGeom prst="rect">
            <a:avLst/>
          </a:prstGeom>
          <a:solidFill>
            <a:srgbClr val="E4E7E0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818120" y="4572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732520" y="457200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win: de ~45 a ~5 minutos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57200" y="4937760"/>
            <a:ext cx="11247120" cy="374904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48640" y="497433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Participaciones societarias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3063240" y="49743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257800" y="5102352"/>
            <a:ext cx="2194560" cy="146304"/>
          </a:xfrm>
          <a:prstGeom prst="rect">
            <a:avLst/>
          </a:prstGeom>
          <a:solidFill>
            <a:srgbClr val="E4E7E0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818120" y="497433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732520" y="497433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actas con IA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48640" y="53766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y cobranzas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3063240" y="53766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257800" y="5504688"/>
            <a:ext cx="2194560" cy="146304"/>
          </a:xfrm>
          <a:prstGeom prst="rect">
            <a:avLst/>
          </a:prstGeom>
          <a:solidFill>
            <a:srgbClr val="E4E7E0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818120" y="53766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732520" y="537667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 emisión y reclamo de comprobantes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48640" y="58978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automatización estimado a partir de lo relevado en la reunión; a validar con el sector y con el equipo de IT antes de cargarse en la matriz.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pilares y las novedades impositivas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Argentina · Tax &amp; Legal · Diagnóstico de procesos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2011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4672" y="1856232"/>
            <a:ext cx="347472" cy="347472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18379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Impuesto a las Ganancias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37744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Liquidación anual. El proceso más pesado del sector en volumen, detalle de análisis y conocimiento técnico.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313639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Excel + macros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1600200"/>
            <a:ext cx="3520440" cy="201168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185623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8379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CM05 — IIBB anual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237744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 anual de Convenio Multilateral: resume las 12 declaraciones mensuales ya presentadas.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13639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Tercerizado en proveedor externo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83296" y="1600200"/>
            <a:ext cx="3520440" cy="201168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39328" y="185623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39328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96528" y="18379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 Personales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39328" y="237744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sustituto: patrimonio neto de cierre del balance por la alícuota del 0,5%.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39328" y="313639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manual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3520440" cy="201168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4672" y="409651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4672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61872" y="40782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Participaciones societarias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4672" y="461772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Régimen de información de autoridades y apoderados, construido a partir de las actas de directorio.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" y="537667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manual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15968" y="3840480"/>
            <a:ext cx="3520440" cy="201168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0" y="409651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40782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0" y="461772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técnicas de clientes, incluidas las de impuestos indirectos. Centralizada en el sector.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0" y="537667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en Teams, uso marginal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83296" y="3840480"/>
            <a:ext cx="3520440" cy="2011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339328" y="4096512"/>
            <a:ext cx="347472" cy="347472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339328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96528" y="40782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 impositivas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339328" y="461772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vende por separado: forma parte del combo de los acuerdos con clientes.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39328" y="537667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Python + Playwright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Descomprimir la ventana de abril y mayo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Argentina · Tax &amp; Legal · Diagnóstico de procesos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00200"/>
          <a:ext cx="68580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600200"/>
            <a:ext cx="3886200" cy="3291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01000" y="1810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001000" y="224028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6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cierran ejercicio en diciembre y vencen en mayo.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6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mediados de abril y el 15 de mayo el sector trabaja al límite, con jornadas de ~20 horas.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6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esa ventana hay valle: es cuando se puede testear, dar feedback y hacer consultoría.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6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automatización debe medirse por las horas que quita del pico, no por el promedio anual.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5120640"/>
            <a:ext cx="11064240" cy="86868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5285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ajustes que más horas consumen en el pico —CTF (bienes de uso) e inversiones financieras— son precisamente los que hoy están, uno casi resuelto y el otro sin empezar.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1 · EN CURSO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liquidación de Impuesto a las Ganancias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Argentina · Tax &amp; Legal · Diagnóstico de procesos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187452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08483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de trabajo en Excel con macros. Se cargan los datos de la sociedad, la herramienta trae las cuentas a analizar por cada ajuste y calcula el ajuste por inflación.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1874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original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208483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reversión automática de saldos. El primer año exige parametrizar todas las cuentas y asociarlas a los ajustes; desde el segundo año los reversos salen solos y se reducen los olvidos.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y próximos pasos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66928" y="4114800"/>
            <a:ext cx="310896" cy="310896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40782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años de proyecto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09160" y="405993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último año avanzó más que en los cuatro anteriores, tras incorporar recursos dedicados.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663440"/>
            <a:ext cx="310896" cy="310896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46268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 lo previsto, automatizado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09160" y="460857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procesos que en su momento se consideraron automatizables ya lo están; sigue el ciclo de mejoras.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212080"/>
            <a:ext cx="310896" cy="310896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5212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05840" y="51755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integrar los templates teóricos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09160" y="515721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ajuste debería abrir su marco normativo desde el propio papel de trabajo.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760720"/>
            <a:ext cx="310896" cy="310896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5760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05840" y="57241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con IA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09160" y="570585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automáticas, carga de balance en PDF y análisis de razonabilidad de la liquidación.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2 · EN CURSO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— Valuación impositiva de bienes de uso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Argentina · Tax &amp; Legal · Diagnóstico de procesos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64240" cy="1170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fundamento en una línea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 amortiza desde el alta; la ley amortiza por año de alta completo. El ajuste corrige ese desfasaje y, para los bienes adquiridos desde 2018, actualiza el valor de origen por IPC (diciembre / mes de compra) antes de calcular la amortización deducible.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la herramienta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1691640" cy="169164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3584448"/>
            <a:ext cx="310896" cy="310896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9684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40740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envía la descarga cruda de su sistema de gestión, con formato distinto en cada caso.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04872" y="3401568"/>
            <a:ext cx="1691640" cy="169164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87752" y="3584448"/>
            <a:ext cx="310896" cy="310896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87752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87752" y="39684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587752" y="440740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se necesitan tres datos: costo, vida útil y fecha de alta (columnas D a F).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61104" y="3401568"/>
            <a:ext cx="1691640" cy="169164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43984" y="3584448"/>
            <a:ext cx="310896" cy="310896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43984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43984" y="39684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histórico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43984" y="440740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única vez, para todo el parque de bienes preexistente.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17336" y="3401568"/>
            <a:ext cx="1691640" cy="169164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00216" y="3584448"/>
            <a:ext cx="310896" cy="310896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0216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0216" y="39684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actual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00216" y="440740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Altas y bajas del ejercicio, y cálculo de amortizaciones.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73568" y="3401568"/>
            <a:ext cx="1691640" cy="1691640"/>
          </a:xfrm>
          <a:prstGeom prst="rect">
            <a:avLst/>
          </a:prstGeom>
          <a:solidFill>
            <a:srgbClr val="EAF3DC"/>
          </a:solidFill>
          <a:ln w="12700">
            <a:solidFill>
              <a:srgbClr val="EA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56448" y="3584448"/>
            <a:ext cx="310896" cy="310896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56448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56448" y="39684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global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156448" y="440740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inicial + altas − bajas − amortización debe dar cero.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829800" y="3401568"/>
            <a:ext cx="1691640" cy="169164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012680" y="3584448"/>
            <a:ext cx="310896" cy="310896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012680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12680" y="39684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ejercicio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012680" y="440740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Traslada todo al año siguiente y actualiza los índices IPC.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5303520"/>
            <a:ext cx="11064240" cy="77724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2960" y="5440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global es el sello de calidad: si no cierra en cero, el error está en el dato cargado —típicamente una fecha— y no en la herramienta. El usuario sabe dónde buscarlo sin escalar a IT.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2 · VALOR AGREGADO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en curso: más deducción, no sólo menos horas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Argentina · Tax &amp; Legal · Diagnóstico de procesos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329184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inflación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compañía activa erogaciones en obra en curso durante meses o años: ladrillos, honorarios, materiales.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habilitarse el bien, la obra en curso desaparece y queda un único ID con una sola fecha: la de puesta en funcionamiento.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actualización por inflación arranca recién en esa fecha: toda la inflación de las erogaciones previas se pierde.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3291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HERRAMIENTA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deduce más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0" y="269748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6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obra en curso se identifica con un subcódigo dentro del histórico de altas y bajas.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6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bien se activa y pasa al rubro definitivo, el archivo reconoce el vínculo entre ambos.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6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actualizar por inflación desde cada erogación original: más amortización deducible para el cliente.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solidFill>
            <a:srgbClr val="EAF3DC"/>
          </a:solidFill>
          <a:ln w="12700">
            <a:solidFill>
              <a:srgbClr val="EA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54223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la herramienta el cálculo es prácticamente imposible: al cambiar de rubro el bien cambia de código y se pierde la trazabilidad de las erogaciones. Estado del desarrollo: casi terminado, en ronda de feedback.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3 · EN CURSO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teóricos por ajuste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Argentina · Tax &amp; Legal · Diagnóstico de procesos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6675120" cy="397764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armó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6035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ajuste relevante de la declaración jurada: marco normativo (artículos de la ley y del decreto), encuadre teórico y un ejemplo del ajuste.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ajustes más importantes y frecuentes se repartieron entre analistas —un tema por analista— con revisión posterior.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jurisprudencia estaba prevista (fallos a favor y en contra) pero en la práctica no llegó a incorporarse.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está unificando el formato: los títulos ya están homogeneizados; varía el orden interno entre redacción y valores.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Propósito: que el analista tenga el respaldo a mano antes de escalar la consulta al senior.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43800" y="1627632"/>
            <a:ext cx="4069080" cy="1874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638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0" y="214884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cada template como hoja oculta del papel de trabajo y una macro que lo abra desde el ajuste correspondiente. El contenido ya está listo: falta armar los vínculos.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3730752"/>
            <a:ext cx="4069080" cy="1874520"/>
          </a:xfrm>
          <a:prstGeom prst="rect">
            <a:avLst/>
          </a:prstGeom>
          <a:solidFill>
            <a:srgbClr val="EAF3DC"/>
          </a:solidFill>
          <a:ln w="12700">
            <a:solidFill>
              <a:srgbClr val="EA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6384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0" y="425196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conjunto de templates como base de conocimiento de un agente consultable desde el propio papel de trabajo, en lugar de navegar archivo por archivo.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4 · EN CURSO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 novedades impositivas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Argentina · Tax &amp; Legal · Diagnóstico de procesos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2615184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21284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jurisdicciones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(24 provincias + nacional)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4136" y="1572768"/>
            <a:ext cx="2615184" cy="123444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6916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02736" y="221284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corrida de viernes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jueves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9632" y="1572768"/>
            <a:ext cx="2615184" cy="123444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8232" y="16916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28232" y="221284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desarrollo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25128" y="1572768"/>
            <a:ext cx="2615184" cy="123444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253728" y="16916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253728" y="221284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clave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mínimas + ministerio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hoy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3401568"/>
            <a:ext cx="2615184" cy="96012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3538728"/>
            <a:ext cx="292608" cy="292608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3520440"/>
            <a:ext cx="1837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de PDFs de todos los boletines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74136" y="3401568"/>
            <a:ext cx="2615184" cy="96012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57016" y="3538728"/>
            <a:ext cx="292608" cy="292608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57016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41064" y="3520440"/>
            <a:ext cx="1837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el ministerio y, dentro, las palabras clave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99632" y="3401568"/>
            <a:ext cx="2615184" cy="96012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82512" y="3538728"/>
            <a:ext cx="292608" cy="292608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82512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3520440"/>
            <a:ext cx="1837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ministerio + 2 palabras, marca la novedad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25128" y="3401568"/>
            <a:ext cx="2615184" cy="96012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208008" y="3538728"/>
            <a:ext cx="292608" cy="292608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208008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592056" y="3520440"/>
            <a:ext cx="1837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con jurisdicciones con y sin novedades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5394960" cy="1508760"/>
          </a:xfrm>
          <a:prstGeom prst="rect">
            <a:avLst/>
          </a:prstGeom>
          <a:solidFill>
            <a:srgbClr val="EAF3DC"/>
          </a:solidFill>
          <a:ln w="12700">
            <a:solidFill>
              <a:srgbClr val="EA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2960" y="4709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el agente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" y="501091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las novedades no relevantes que entran por excepción, redactar el resumen en el formato de mail que hoy se arma a mano y enviarlo automáticamente.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7920" y="4572000"/>
            <a:ext cx="5394960" cy="1508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92240" y="4709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no cubierto y frenos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501091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social y aduana quedan fuera: se relevan a mano y sólo sobre el boletín nacional — extenderlo sería, en principio, cambiar palabras clave. Además, los PDFs escaneados (San Juan, Santa Cruz) siguen dando pelea.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5 A 7 · SIN TECNOLOGÍA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procesos mecánicos, cero automatización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Argentina · Tax &amp; Legal · Diagnóstico de procesos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411480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810512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CM05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221284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ANUAL DE INGRESOS BRUTOS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2578608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las 12 declaraciones mensuales ya presentadas por la compañía.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3493008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se paga a un proveedor externo que tiene la tecnología que el equipo no tiene.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" y="4480560"/>
            <a:ext cx="3008376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4590288"/>
            <a:ext cx="2642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Internalizar elimina un costo directo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5968" y="1600200"/>
            <a:ext cx="3520440" cy="411480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810512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 Personales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72000" y="221284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SUSTITUTO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0" y="2578608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del balance el patrimonio neto de cierre y aplicar el 0,5%. Sin análisis adicional.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0" y="3493008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minutos de liquidación manual más ~15 de carga en el aplicativo.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4480560"/>
            <a:ext cx="3008376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4590288"/>
            <a:ext cx="2642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win: podría resolverse en ~5 minutos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3296" y="1600200"/>
            <a:ext cx="3520440" cy="411480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39328" y="1810512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Participaciones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339328" y="221284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RÉGIMEN DE INFORMACIÓN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39328" y="2578608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autoridades y apoderados según lo aprobado por el directorio en actas.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39328" y="3493008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 acta por acta trabajando por altas y bajas contra lo informado el año anterior.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39328" y="4480560"/>
            <a:ext cx="3008376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22208" y="4590288"/>
            <a:ext cx="2642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valor agregado ni aprendizaje para quien lo hace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8 · OPORTUNIDAD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Consultoría: el conocimiento existe, pero no se encuentra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Argentina · Tax &amp; Legal · Diagnóstico de procesos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29184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8105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cargadas en el reservorio de memos, contra ~14 gerentes atendiendo consultas en paralelo.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69080" y="1645920"/>
            <a:ext cx="7543800" cy="192024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4340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2148840"/>
            <a:ext cx="6949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consultas se repiten mucho, pero dos gerentes pueden invertir horas en la misma sin saberlo.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reservorio de memos, mails e informes no prendió: no está el hábito de buscar antes de arrancar.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carpeta en Teams no resuelve la búsqueda; hace falta algo que responda, no que guarde.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vería resuelto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3520440" cy="1463040"/>
          </a:xfrm>
          <a:prstGeom prst="rect">
            <a:avLst/>
          </a:prstGeom>
          <a:solidFill>
            <a:srgbClr val="EAF3DC"/>
          </a:solidFill>
          <a:ln w="12700">
            <a:solidFill>
              <a:srgbClr val="EA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4370832"/>
            <a:ext cx="310896" cy="310896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7548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conocimiento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50566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memos, mails e informes de consultas ya respondidas como fuente del agente.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15968" y="4206240"/>
            <a:ext cx="3520440" cy="1463040"/>
          </a:xfrm>
          <a:prstGeom prst="rect">
            <a:avLst/>
          </a:prstGeom>
          <a:solidFill>
            <a:srgbClr val="EAF3DC"/>
          </a:solidFill>
          <a:ln w="12700">
            <a:solidFill>
              <a:srgbClr val="EA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44568" y="4370832"/>
            <a:ext cx="310896" cy="310896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44568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44568" y="47548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con trazabilidad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44568" y="50566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una consulta nueva, devuelve qué se analizó antes y enlaza al memo original.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83296" y="4206240"/>
            <a:ext cx="3520440" cy="146304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11896" y="4370832"/>
            <a:ext cx="310896" cy="310896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11896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11896" y="47548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mercado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11896" y="50566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otras compañías, una web interna con los análisis previos es el primer lugar de consulta.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conviene poner el esfuerzo primero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Argentina · Tax &amp; Legal · Diagnóstico de procesos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20440" cy="4023360"/>
          </a:xfrm>
          <a:prstGeom prst="rect">
            <a:avLst/>
          </a:prstGeom>
          <a:solidFill>
            <a:srgbClr val="EAF3DC"/>
          </a:solidFill>
          <a:ln w="12700">
            <a:solidFill>
              <a:srgbClr val="EA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impacto · bajo esfuerzo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 Personales: de ~45 a ~5 minutos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el bot a aduana y seguridad social (cambio de palabras clave, a confirmar)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los templates al papel de trabajo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15968" y="1645920"/>
            <a:ext cx="3520440" cy="4023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90288" y="18745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APUESTAS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90288" y="2240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impacto · alto esfuerzo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0288" y="269748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D6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consultoría sobre memos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D6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Internalizar CM05 (hoy tercerizado)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D6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Valuación de inversiones financieras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D6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actas para participaciones societarias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645920"/>
            <a:ext cx="3520440" cy="4023360"/>
          </a:xfrm>
          <a:prstGeom prst="rect">
            <a:avLst/>
          </a:prstGeom>
          <a:solidFill>
            <a:srgbClr val="F3F5F1"/>
          </a:solidFill>
          <a:ln w="12700">
            <a:solidFill>
              <a:srgbClr val="F3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57616" y="18745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CERRAR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57616" y="2240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 · faltan metros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57616" y="269748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CTF: incorporar feedback y cerrar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Novedades: agente de relevancia y resumen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Ganancias: validaciones y lectura de balances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8704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3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preliminar por impacto y esfuerzo, a validar en la próxima sesión y a incorporar a la Matriz de Procesos Automatizables de T&amp;L.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Bloqueos y próximos pasos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Argentina · Tax &amp; Legal · Diagnóstico de procesos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49240" cy="402336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847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 agentes de 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A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Frena el filtro y el resumen del bot, el agente de consultoría y el agente sobre templates.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escaneados con OCR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A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incompleta en algunas jurisdicciones; se mitiga sumando palabras clave.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del dato del cliente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A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Definido: cuando la herramienta esté estable, el pedido de información se canaliza por ella.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4800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concentrado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5074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A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operativo de Ganancias se releva con un analista del equipo.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64592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1847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583680" y="2331720"/>
            <a:ext cx="292608" cy="292608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04304" y="229514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notas al sector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04304" y="258775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 · inmediato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0" y="2990088"/>
            <a:ext cx="292608" cy="292608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04304" y="295351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Destrabar la aprobación de agentes con Cristian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04304" y="32461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 y Equipo BT · </a:t>
            </a:r>
            <a:r>
              <a:rPr lang="en-US" sz="1050" dirty="0" err="1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0" y="3648456"/>
            <a:ext cx="292608" cy="292608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3648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04304" y="361188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con junior/senior para el resto de los procesos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04304" y="39044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</a:t>
            </a:r>
            <a:r>
              <a:rPr lang="en-US" sz="1050" dirty="0" err="1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r>
              <a:rPr lang="en-US" sz="105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la </a:t>
            </a:r>
            <a:r>
              <a:rPr lang="en-US" sz="1050" dirty="0" err="1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83680" y="4306824"/>
            <a:ext cx="292608" cy="292608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4306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04304" y="427024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la extensión del bot a aduana y seguridad social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04304" y="456285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a definir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83680" y="4965192"/>
            <a:ext cx="292608" cy="292608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0" y="4965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04304" y="492861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los procesos en la matriz por línea de servicio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04304" y="522122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 y Equipo BT · en curso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2359</Words>
  <Application>Microsoft Office PowerPoint</Application>
  <PresentationFormat>Widescreen</PresentationFormat>
  <Paragraphs>339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Tax — Relevamiento de procesos y automatización</dc:title>
  <dc:subject>PptxGenJS Presentation</dc:subject>
  <dc:creator>Deloitte Argentina</dc:creator>
  <cp:lastModifiedBy>Nogues, Gonzalo</cp:lastModifiedBy>
  <cp:revision>2</cp:revision>
  <dcterms:created xsi:type="dcterms:W3CDTF">2026-08-22T19:14:13Z</dcterms:created>
  <dcterms:modified xsi:type="dcterms:W3CDTF">2026-08-24T17:43:22Z</dcterms:modified>
</cp:coreProperties>
</file>